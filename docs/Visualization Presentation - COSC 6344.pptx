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4"/>
    <p:sldMasterId id="214748369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Playfair Display Medium"/>
      <p:regular r:id="rId19"/>
      <p:bold r:id="rId20"/>
      <p:italic r:id="rId21"/>
      <p:boldItalic r:id="rId22"/>
    </p:embeddedFont>
    <p:embeddedFont>
      <p:font typeface="Playfair Displ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Medium-bold.fntdata"/><Relationship Id="rId22" Type="http://schemas.openxmlformats.org/officeDocument/2006/relationships/font" Target="fonts/PlayfairDisplayMedium-boldItalic.fntdata"/><Relationship Id="rId21" Type="http://schemas.openxmlformats.org/officeDocument/2006/relationships/font" Target="fonts/PlayfairDisplayMedium-italic.fntdata"/><Relationship Id="rId24" Type="http://schemas.openxmlformats.org/officeDocument/2006/relationships/font" Target="fonts/PlayfairDisplay-bold.fntdata"/><Relationship Id="rId23" Type="http://schemas.openxmlformats.org/officeDocument/2006/relationships/font" Target="fonts/PlayfairDispl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layfairDisplay-boldItalic.fntdata"/><Relationship Id="rId25" Type="http://schemas.openxmlformats.org/officeDocument/2006/relationships/font" Target="fonts/PlayfairDispl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regular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4.xml"/><Relationship Id="rId32" Type="http://schemas.openxmlformats.org/officeDocument/2006/relationships/font" Target="fonts/RobotoMon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ayfairDisplay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a86df3b31_0_2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aa86df3b31_0_2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a86df3b31_0_2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aa86df3b31_0_2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a86df3b31_0_2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aa86df3b31_0_2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aa86df3b31_0_2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aa86df3b31_0_2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Why Virginia?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- Virginia is the third most counties count state - which we thought it can make a pretty good balance to do the visualization and analysis on county data.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c65ce1a6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ac65ce1a6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ac65ce1a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ac65ce1a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VTK → High-performance rendering of Virginia’s geographic map.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Vega-Lite / Altair → Interactive charts for trends, growth, similarity, forecasting.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Trame → Connects VTK + Vega-Lite using reactive state-based web interface.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Python (Pandas, NumPy, Scikit-learn) → Data processing, clustering, forecasting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c65ce1a6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ac65ce1a6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ac65ce1a6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ac65ce1a6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ac65ce1a6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ac65ce1a6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ac65ce1a6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ac65ce1a6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aa86df3b31_0_3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aa86df3b31_0_3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aa86df3b31_0_2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aa86df3b31_0_2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">
  <p:cSld name="BLANK_1_1_1_1_8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2" type="subTitle"/>
          </p:nvPr>
        </p:nvSpPr>
        <p:spPr>
          <a:xfrm>
            <a:off x="4071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3" type="subTitle"/>
          </p:nvPr>
        </p:nvSpPr>
        <p:spPr>
          <a:xfrm>
            <a:off x="27105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4" type="subTitle"/>
          </p:nvPr>
        </p:nvSpPr>
        <p:spPr>
          <a:xfrm>
            <a:off x="50140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5" type="subTitle"/>
          </p:nvPr>
        </p:nvSpPr>
        <p:spPr>
          <a:xfrm>
            <a:off x="73174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6" type="body"/>
          </p:nvPr>
        </p:nvSpPr>
        <p:spPr>
          <a:xfrm>
            <a:off x="4071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66" name="Google Shape;66;p15"/>
          <p:cNvSpPr txBox="1"/>
          <p:nvPr>
            <p:ph idx="7" type="body"/>
          </p:nvPr>
        </p:nvSpPr>
        <p:spPr>
          <a:xfrm>
            <a:off x="27105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67" name="Google Shape;67;p15"/>
          <p:cNvSpPr txBox="1"/>
          <p:nvPr>
            <p:ph idx="8" type="body"/>
          </p:nvPr>
        </p:nvSpPr>
        <p:spPr>
          <a:xfrm>
            <a:off x="50140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68" name="Google Shape;68;p15"/>
          <p:cNvSpPr txBox="1"/>
          <p:nvPr>
            <p:ph idx="9" type="body"/>
          </p:nvPr>
        </p:nvSpPr>
        <p:spPr>
          <a:xfrm>
            <a:off x="73174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 with small statement">
  <p:cSld name="BLANK_1_1_1_1_6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5503325" y="524750"/>
            <a:ext cx="3356100" cy="8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9pPr>
          </a:lstStyle>
          <a:p/>
        </p:txBody>
      </p:sp>
      <p:sp>
        <p:nvSpPr>
          <p:cNvPr id="71" name="Google Shape;71;p16"/>
          <p:cNvSpPr txBox="1"/>
          <p:nvPr>
            <p:ph type="title"/>
          </p:nvPr>
        </p:nvSpPr>
        <p:spPr>
          <a:xfrm>
            <a:off x="276075" y="457200"/>
            <a:ext cx="50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6"/>
          <p:cNvSpPr txBox="1"/>
          <p:nvPr>
            <p:ph idx="3" type="subTitle"/>
          </p:nvPr>
        </p:nvSpPr>
        <p:spPr>
          <a:xfrm>
            <a:off x="279528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4" type="subTitle"/>
          </p:nvPr>
        </p:nvSpPr>
        <p:spPr>
          <a:xfrm>
            <a:off x="2489940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5" type="subTitle"/>
          </p:nvPr>
        </p:nvSpPr>
        <p:spPr>
          <a:xfrm>
            <a:off x="4695138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6" type="subTitle"/>
          </p:nvPr>
        </p:nvSpPr>
        <p:spPr>
          <a:xfrm>
            <a:off x="6900335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7" type="body"/>
          </p:nvPr>
        </p:nvSpPr>
        <p:spPr>
          <a:xfrm>
            <a:off x="27495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79" name="Google Shape;79;p16"/>
          <p:cNvSpPr txBox="1"/>
          <p:nvPr>
            <p:ph idx="8" type="body"/>
          </p:nvPr>
        </p:nvSpPr>
        <p:spPr>
          <a:xfrm>
            <a:off x="248994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80" name="Google Shape;80;p16"/>
          <p:cNvSpPr txBox="1"/>
          <p:nvPr>
            <p:ph idx="9" type="body"/>
          </p:nvPr>
        </p:nvSpPr>
        <p:spPr>
          <a:xfrm>
            <a:off x="470493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81" name="Google Shape;81;p16"/>
          <p:cNvSpPr txBox="1"/>
          <p:nvPr>
            <p:ph idx="13" type="body"/>
          </p:nvPr>
        </p:nvSpPr>
        <p:spPr>
          <a:xfrm>
            <a:off x="6900335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82" name="Google Shape;82;p16"/>
          <p:cNvSpPr txBox="1"/>
          <p:nvPr>
            <p:ph idx="14" type="subTitle"/>
          </p:nvPr>
        </p:nvSpPr>
        <p:spPr>
          <a:xfrm>
            <a:off x="27952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15" type="subTitle"/>
          </p:nvPr>
        </p:nvSpPr>
        <p:spPr>
          <a:xfrm>
            <a:off x="248995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16" type="subTitle"/>
          </p:nvPr>
        </p:nvSpPr>
        <p:spPr>
          <a:xfrm>
            <a:off x="470037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17" type="subTitle"/>
          </p:nvPr>
        </p:nvSpPr>
        <p:spPr>
          <a:xfrm>
            <a:off x="691080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right image and 2 text boxes">
  <p:cSld name="BLANK_1_1_1_1_5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276075" y="457200"/>
            <a:ext cx="6432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7"/>
          <p:cNvSpPr/>
          <p:nvPr>
            <p:ph idx="2" type="pic"/>
          </p:nvPr>
        </p:nvSpPr>
        <p:spPr>
          <a:xfrm>
            <a:off x="6802800" y="0"/>
            <a:ext cx="23412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7"/>
          <p:cNvSpPr txBox="1"/>
          <p:nvPr>
            <p:ph idx="1" type="subTitle"/>
          </p:nvPr>
        </p:nvSpPr>
        <p:spPr>
          <a:xfrm>
            <a:off x="4682775" y="2717425"/>
            <a:ext cx="20262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3" type="subTitle"/>
          </p:nvPr>
        </p:nvSpPr>
        <p:spPr>
          <a:xfrm>
            <a:off x="6843453" y="2717425"/>
            <a:ext cx="20301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2" name="Google Shape;92;p17"/>
          <p:cNvSpPr txBox="1"/>
          <p:nvPr>
            <p:ph idx="4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5" type="body"/>
          </p:nvPr>
        </p:nvSpPr>
        <p:spPr>
          <a:xfrm>
            <a:off x="4682775" y="3042765"/>
            <a:ext cx="2026200" cy="12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94" name="Google Shape;94;p17"/>
          <p:cNvSpPr txBox="1"/>
          <p:nvPr>
            <p:ph idx="6" type="body"/>
          </p:nvPr>
        </p:nvSpPr>
        <p:spPr>
          <a:xfrm>
            <a:off x="6843455" y="3042765"/>
            <a:ext cx="2030100" cy="12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peakers info">
  <p:cSld name="BLANK_1_1_1_1_3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5461825" y="850"/>
            <a:ext cx="3682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8"/>
          <p:cNvSpPr txBox="1"/>
          <p:nvPr>
            <p:ph idx="1" type="subTitle"/>
          </p:nvPr>
        </p:nvSpPr>
        <p:spPr>
          <a:xfrm>
            <a:off x="1987875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2" type="subTitle"/>
          </p:nvPr>
        </p:nvSpPr>
        <p:spPr>
          <a:xfrm>
            <a:off x="1987875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9" name="Google Shape;99;p18"/>
          <p:cNvSpPr/>
          <p:nvPr>
            <p:ph idx="3" type="pic"/>
          </p:nvPr>
        </p:nvSpPr>
        <p:spPr>
          <a:xfrm>
            <a:off x="-5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8"/>
          <p:cNvSpPr/>
          <p:nvPr>
            <p:ph idx="4" type="pic"/>
          </p:nvPr>
        </p:nvSpPr>
        <p:spPr>
          <a:xfrm>
            <a:off x="452716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8"/>
          <p:cNvSpPr txBox="1"/>
          <p:nvPr>
            <p:ph idx="5" type="subTitle"/>
          </p:nvPr>
        </p:nvSpPr>
        <p:spPr>
          <a:xfrm>
            <a:off x="6525486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idx="6" type="subTitle"/>
          </p:nvPr>
        </p:nvSpPr>
        <p:spPr>
          <a:xfrm>
            <a:off x="6525486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3" name="Google Shape;103;p18"/>
          <p:cNvSpPr txBox="1"/>
          <p:nvPr>
            <p:ph type="title"/>
          </p:nvPr>
        </p:nvSpPr>
        <p:spPr>
          <a:xfrm>
            <a:off x="276075" y="457200"/>
            <a:ext cx="42489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7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8"/>
          <p:cNvSpPr txBox="1"/>
          <p:nvPr>
            <p:ph idx="8" type="body"/>
          </p:nvPr>
        </p:nvSpPr>
        <p:spPr>
          <a:xfrm>
            <a:off x="1987875" y="3545425"/>
            <a:ext cx="17550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7" name="Google Shape;107;p18"/>
          <p:cNvSpPr txBox="1"/>
          <p:nvPr>
            <p:ph idx="9" type="body"/>
          </p:nvPr>
        </p:nvSpPr>
        <p:spPr>
          <a:xfrm>
            <a:off x="6536675" y="3545425"/>
            <a:ext cx="16998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>
            <p:ph idx="2" type="pic"/>
          </p:nvPr>
        </p:nvSpPr>
        <p:spPr>
          <a:xfrm>
            <a:off x="4138225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9"/>
          <p:cNvSpPr/>
          <p:nvPr>
            <p:ph idx="3" type="pic"/>
          </p:nvPr>
        </p:nvSpPr>
        <p:spPr>
          <a:xfrm>
            <a:off x="4138225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9"/>
          <p:cNvSpPr/>
          <p:nvPr>
            <p:ph idx="4" type="pic"/>
          </p:nvPr>
        </p:nvSpPr>
        <p:spPr>
          <a:xfrm>
            <a:off x="4138213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9"/>
          <p:cNvSpPr/>
          <p:nvPr>
            <p:ph idx="5" type="pic"/>
          </p:nvPr>
        </p:nvSpPr>
        <p:spPr>
          <a:xfrm>
            <a:off x="6573252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9"/>
          <p:cNvSpPr/>
          <p:nvPr>
            <p:ph idx="6" type="pic"/>
          </p:nvPr>
        </p:nvSpPr>
        <p:spPr>
          <a:xfrm>
            <a:off x="6573252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9"/>
          <p:cNvSpPr/>
          <p:nvPr>
            <p:ph idx="7" type="pic"/>
          </p:nvPr>
        </p:nvSpPr>
        <p:spPr>
          <a:xfrm>
            <a:off x="6573252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9"/>
          <p:cNvSpPr txBox="1"/>
          <p:nvPr>
            <p:ph idx="1" type="subTitle"/>
          </p:nvPr>
        </p:nvSpPr>
        <p:spPr>
          <a:xfrm>
            <a:off x="5406561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6" name="Google Shape;116;p19"/>
          <p:cNvSpPr txBox="1"/>
          <p:nvPr>
            <p:ph idx="8" type="subTitle"/>
          </p:nvPr>
        </p:nvSpPr>
        <p:spPr>
          <a:xfrm>
            <a:off x="5406561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7" name="Google Shape;117;p19"/>
          <p:cNvSpPr txBox="1"/>
          <p:nvPr>
            <p:ph idx="9" type="subTitle"/>
          </p:nvPr>
        </p:nvSpPr>
        <p:spPr>
          <a:xfrm>
            <a:off x="5406561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8" name="Google Shape;118;p19"/>
          <p:cNvSpPr txBox="1"/>
          <p:nvPr>
            <p:ph idx="13" type="subTitle"/>
          </p:nvPr>
        </p:nvSpPr>
        <p:spPr>
          <a:xfrm>
            <a:off x="7840736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14" type="subTitle"/>
          </p:nvPr>
        </p:nvSpPr>
        <p:spPr>
          <a:xfrm>
            <a:off x="7840736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0" name="Google Shape;120;p19"/>
          <p:cNvSpPr txBox="1"/>
          <p:nvPr>
            <p:ph idx="15" type="subTitle"/>
          </p:nvPr>
        </p:nvSpPr>
        <p:spPr>
          <a:xfrm>
            <a:off x="7840736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16" type="subTitle"/>
          </p:nvPr>
        </p:nvSpPr>
        <p:spPr>
          <a:xfrm>
            <a:off x="5406550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22" name="Google Shape;122;p19"/>
          <p:cNvSpPr txBox="1"/>
          <p:nvPr>
            <p:ph idx="17" type="subTitle"/>
          </p:nvPr>
        </p:nvSpPr>
        <p:spPr>
          <a:xfrm>
            <a:off x="7840725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23" name="Google Shape;123;p19"/>
          <p:cNvSpPr txBox="1"/>
          <p:nvPr>
            <p:ph idx="18" type="subTitle"/>
          </p:nvPr>
        </p:nvSpPr>
        <p:spPr>
          <a:xfrm>
            <a:off x="5406550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24" name="Google Shape;124;p19"/>
          <p:cNvSpPr txBox="1"/>
          <p:nvPr>
            <p:ph idx="19" type="subTitle"/>
          </p:nvPr>
        </p:nvSpPr>
        <p:spPr>
          <a:xfrm>
            <a:off x="7840725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25" name="Google Shape;125;p19"/>
          <p:cNvSpPr txBox="1"/>
          <p:nvPr>
            <p:ph idx="20" type="subTitle"/>
          </p:nvPr>
        </p:nvSpPr>
        <p:spPr>
          <a:xfrm>
            <a:off x="5406550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26" name="Google Shape;126;p19"/>
          <p:cNvSpPr txBox="1"/>
          <p:nvPr>
            <p:ph idx="21" type="subTitle"/>
          </p:nvPr>
        </p:nvSpPr>
        <p:spPr>
          <a:xfrm>
            <a:off x="7840725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27" name="Google Shape;127;p19"/>
          <p:cNvSpPr txBox="1"/>
          <p:nvPr>
            <p:ph type="title"/>
          </p:nvPr>
        </p:nvSpPr>
        <p:spPr>
          <a:xfrm>
            <a:off x="276075" y="457200"/>
            <a:ext cx="38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2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29" name="Google Shape;129;p1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_2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2" name="Google Shape;132;p20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0"/>
          <p:cNvSpPr txBox="1"/>
          <p:nvPr>
            <p:ph idx="2" type="body"/>
          </p:nvPr>
        </p:nvSpPr>
        <p:spPr>
          <a:xfrm>
            <a:off x="276075" y="1763425"/>
            <a:ext cx="4342800" cy="7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with picture">
  <p:cSld name="BLANK_1_1_1_1_1_1_1_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1182150" y="1765350"/>
            <a:ext cx="6779700" cy="17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7" name="Google Shape;137;p21"/>
          <p:cNvSpPr txBox="1"/>
          <p:nvPr>
            <p:ph idx="2" type="title"/>
          </p:nvPr>
        </p:nvSpPr>
        <p:spPr>
          <a:xfrm>
            <a:off x="1182150" y="4058050"/>
            <a:ext cx="6779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8" name="Google Shape;138;p21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1"/>
          <p:cNvSpPr/>
          <p:nvPr>
            <p:ph idx="3" type="pic"/>
          </p:nvPr>
        </p:nvSpPr>
        <p:spPr>
          <a:xfrm>
            <a:off x="0" y="0"/>
            <a:ext cx="9144000" cy="1079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dk2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270983" y="1985025"/>
            <a:ext cx="33429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43" name="Google Shape;143;p22"/>
          <p:cNvSpPr txBox="1"/>
          <p:nvPr>
            <p:ph idx="2" type="title"/>
          </p:nvPr>
        </p:nvSpPr>
        <p:spPr>
          <a:xfrm>
            <a:off x="270983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4" name="Google Shape;144;p22"/>
          <p:cNvSpPr txBox="1"/>
          <p:nvPr>
            <p:ph idx="3" type="title"/>
          </p:nvPr>
        </p:nvSpPr>
        <p:spPr>
          <a:xfrm>
            <a:off x="270983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5" name="Google Shape;145;p22"/>
          <p:cNvSpPr txBox="1"/>
          <p:nvPr>
            <p:ph idx="4" type="title"/>
          </p:nvPr>
        </p:nvSpPr>
        <p:spPr>
          <a:xfrm>
            <a:off x="4858317" y="19850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5" type="title"/>
          </p:nvPr>
        </p:nvSpPr>
        <p:spPr>
          <a:xfrm>
            <a:off x="4858317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6" type="title"/>
          </p:nvPr>
        </p:nvSpPr>
        <p:spPr>
          <a:xfrm>
            <a:off x="4858317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idx="7"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9" name="Google Shape;149;p22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22"/>
          <p:cNvSpPr txBox="1"/>
          <p:nvPr>
            <p:ph idx="8" type="subTitle"/>
          </p:nvPr>
        </p:nvSpPr>
        <p:spPr>
          <a:xfrm>
            <a:off x="271825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52" name="Google Shape;152;p22"/>
          <p:cNvSpPr txBox="1"/>
          <p:nvPr>
            <p:ph idx="9" type="subTitle"/>
          </p:nvPr>
        </p:nvSpPr>
        <p:spPr>
          <a:xfrm>
            <a:off x="4858700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53" name="Google Shape;153;p22"/>
          <p:cNvSpPr txBox="1"/>
          <p:nvPr>
            <p:ph idx="13" type="subTitle"/>
          </p:nvPr>
        </p:nvSpPr>
        <p:spPr>
          <a:xfrm>
            <a:off x="271825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54" name="Google Shape;154;p22"/>
          <p:cNvSpPr txBox="1"/>
          <p:nvPr>
            <p:ph idx="14" type="subTitle"/>
          </p:nvPr>
        </p:nvSpPr>
        <p:spPr>
          <a:xfrm>
            <a:off x="271825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55" name="Google Shape;155;p22"/>
          <p:cNvSpPr txBox="1"/>
          <p:nvPr>
            <p:ph idx="15" type="subTitle"/>
          </p:nvPr>
        </p:nvSpPr>
        <p:spPr>
          <a:xfrm>
            <a:off x="4858700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56" name="Google Shape;156;p22"/>
          <p:cNvSpPr txBox="1"/>
          <p:nvPr>
            <p:ph idx="16" type="subTitle"/>
          </p:nvPr>
        </p:nvSpPr>
        <p:spPr>
          <a:xfrm>
            <a:off x="4858700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image with right text">
  <p:cSld name="BLANK_1_1_1_1_1_1_1_1_1_1_1_1_1_1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/>
          <p:nvPr>
            <p:ph idx="2" type="pic"/>
          </p:nvPr>
        </p:nvSpPr>
        <p:spPr>
          <a:xfrm>
            <a:off x="0" y="0"/>
            <a:ext cx="4348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23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60" name="Google Shape;160;p23"/>
          <p:cNvSpPr txBox="1"/>
          <p:nvPr>
            <p:ph type="title"/>
          </p:nvPr>
        </p:nvSpPr>
        <p:spPr>
          <a:xfrm>
            <a:off x="4618950" y="457200"/>
            <a:ext cx="42516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3"/>
          <p:cNvSpPr txBox="1"/>
          <p:nvPr>
            <p:ph idx="3" type="subTitle"/>
          </p:nvPr>
        </p:nvSpPr>
        <p:spPr>
          <a:xfrm>
            <a:off x="4618950" y="2823908"/>
            <a:ext cx="4251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3" name="Google Shape;163;p23"/>
          <p:cNvSpPr txBox="1"/>
          <p:nvPr>
            <p:ph idx="4" type="body"/>
          </p:nvPr>
        </p:nvSpPr>
        <p:spPr>
          <a:xfrm>
            <a:off x="4618950" y="3457500"/>
            <a:ext cx="4251600" cy="9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ight image">
  <p:cSld name="BLANK_1_1_1_1_1_1_1_1_1_1_1_1_1_1_1_1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/>
          <p:nvPr>
            <p:ph idx="2" type="pic"/>
          </p:nvPr>
        </p:nvSpPr>
        <p:spPr>
          <a:xfrm>
            <a:off x="6877724" y="0"/>
            <a:ext cx="2266200" cy="34050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24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7" name="Google Shape;167;p24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25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2" name="Google Shape;172;p25"/>
          <p:cNvSpPr txBox="1"/>
          <p:nvPr>
            <p:ph idx="1" type="subTitle"/>
          </p:nvPr>
        </p:nvSpPr>
        <p:spPr>
          <a:xfrm>
            <a:off x="1114250" y="18790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3" name="Google Shape;173;p25"/>
          <p:cNvSpPr txBox="1"/>
          <p:nvPr>
            <p:ph idx="2" type="subTitle"/>
          </p:nvPr>
        </p:nvSpPr>
        <p:spPr>
          <a:xfrm>
            <a:off x="2135350" y="18790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4" name="Google Shape;174;p25"/>
          <p:cNvSpPr txBox="1"/>
          <p:nvPr>
            <p:ph idx="3" type="subTitle"/>
          </p:nvPr>
        </p:nvSpPr>
        <p:spPr>
          <a:xfrm>
            <a:off x="5787475" y="19129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75" name="Google Shape;175;p25"/>
          <p:cNvSpPr txBox="1"/>
          <p:nvPr>
            <p:ph idx="4" type="subTitle"/>
          </p:nvPr>
        </p:nvSpPr>
        <p:spPr>
          <a:xfrm>
            <a:off x="1114250" y="28168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5" type="subTitle"/>
          </p:nvPr>
        </p:nvSpPr>
        <p:spPr>
          <a:xfrm>
            <a:off x="2135350" y="28168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7" name="Google Shape;177;p25"/>
          <p:cNvSpPr txBox="1"/>
          <p:nvPr>
            <p:ph idx="6" type="subTitle"/>
          </p:nvPr>
        </p:nvSpPr>
        <p:spPr>
          <a:xfrm>
            <a:off x="5787475" y="28507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78" name="Google Shape;178;p25"/>
          <p:cNvSpPr txBox="1"/>
          <p:nvPr>
            <p:ph idx="7" type="subTitle"/>
          </p:nvPr>
        </p:nvSpPr>
        <p:spPr>
          <a:xfrm>
            <a:off x="1114250" y="37546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8" type="subTitle"/>
          </p:nvPr>
        </p:nvSpPr>
        <p:spPr>
          <a:xfrm>
            <a:off x="2135350" y="37546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9" type="subTitle"/>
          </p:nvPr>
        </p:nvSpPr>
        <p:spPr>
          <a:xfrm>
            <a:off x="5787475" y="37885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1">
  <p:cSld name="CUSTOM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26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4" name="Google Shape;184;p26"/>
          <p:cNvSpPr txBox="1"/>
          <p:nvPr>
            <p:ph idx="1" type="subTitle"/>
          </p:nvPr>
        </p:nvSpPr>
        <p:spPr>
          <a:xfrm>
            <a:off x="276075" y="1194000"/>
            <a:ext cx="19902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85" name="Google Shape;185;p26"/>
          <p:cNvSpPr txBox="1"/>
          <p:nvPr>
            <p:ph idx="2" type="subTitle"/>
          </p:nvPr>
        </p:nvSpPr>
        <p:spPr>
          <a:xfrm>
            <a:off x="3074775" y="1194000"/>
            <a:ext cx="4164900" cy="2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86" name="Google Shape;186;p26"/>
          <p:cNvSpPr txBox="1"/>
          <p:nvPr>
            <p:ph idx="3" type="body"/>
          </p:nvPr>
        </p:nvSpPr>
        <p:spPr>
          <a:xfrm>
            <a:off x="30747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87" name="Google Shape;187;p26"/>
          <p:cNvSpPr txBox="1"/>
          <p:nvPr>
            <p:ph idx="4" type="subTitle"/>
          </p:nvPr>
        </p:nvSpPr>
        <p:spPr>
          <a:xfrm>
            <a:off x="30747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8" name="Google Shape;188;p26"/>
          <p:cNvSpPr txBox="1"/>
          <p:nvPr>
            <p:ph idx="5" type="body"/>
          </p:nvPr>
        </p:nvSpPr>
        <p:spPr>
          <a:xfrm>
            <a:off x="48828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89" name="Google Shape;189;p26"/>
          <p:cNvSpPr txBox="1"/>
          <p:nvPr>
            <p:ph idx="6" type="subTitle"/>
          </p:nvPr>
        </p:nvSpPr>
        <p:spPr>
          <a:xfrm>
            <a:off x="48828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0" name="Google Shape;190;p26"/>
          <p:cNvSpPr txBox="1"/>
          <p:nvPr>
            <p:ph idx="7" type="body"/>
          </p:nvPr>
        </p:nvSpPr>
        <p:spPr>
          <a:xfrm>
            <a:off x="66909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91" name="Google Shape;191;p26"/>
          <p:cNvSpPr txBox="1"/>
          <p:nvPr>
            <p:ph idx="8" type="subTitle"/>
          </p:nvPr>
        </p:nvSpPr>
        <p:spPr>
          <a:xfrm>
            <a:off x="66909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2" name="Google Shape;192;p26"/>
          <p:cNvSpPr txBox="1"/>
          <p:nvPr>
            <p:ph idx="9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3" name="Google Shape;193;p26"/>
          <p:cNvSpPr/>
          <p:nvPr>
            <p:ph idx="13" type="pic"/>
          </p:nvPr>
        </p:nvSpPr>
        <p:spPr>
          <a:xfrm>
            <a:off x="-74" y="3991500"/>
            <a:ext cx="2266200" cy="115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2">
  <p:cSld name="CUSTOM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27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1" type="subTitle"/>
          </p:nvPr>
        </p:nvSpPr>
        <p:spPr>
          <a:xfrm>
            <a:off x="276075" y="1194000"/>
            <a:ext cx="49926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98" name="Google Shape;198;p27"/>
          <p:cNvSpPr txBox="1"/>
          <p:nvPr>
            <p:ph idx="2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9" name="Google Shape;199;p27"/>
          <p:cNvSpPr txBox="1"/>
          <p:nvPr>
            <p:ph idx="3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idx="4" type="body"/>
          </p:nvPr>
        </p:nvSpPr>
        <p:spPr>
          <a:xfrm>
            <a:off x="2760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01" name="Google Shape;201;p27"/>
          <p:cNvSpPr txBox="1"/>
          <p:nvPr>
            <p:ph idx="5" type="subTitle"/>
          </p:nvPr>
        </p:nvSpPr>
        <p:spPr>
          <a:xfrm>
            <a:off x="2760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2" name="Google Shape;202;p27"/>
          <p:cNvSpPr txBox="1"/>
          <p:nvPr>
            <p:ph idx="6" type="body"/>
          </p:nvPr>
        </p:nvSpPr>
        <p:spPr>
          <a:xfrm>
            <a:off x="30747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03" name="Google Shape;203;p27"/>
          <p:cNvSpPr txBox="1"/>
          <p:nvPr>
            <p:ph idx="7" type="subTitle"/>
          </p:nvPr>
        </p:nvSpPr>
        <p:spPr>
          <a:xfrm>
            <a:off x="30747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4" name="Google Shape;204;p27"/>
          <p:cNvSpPr txBox="1"/>
          <p:nvPr>
            <p:ph idx="8" type="body"/>
          </p:nvPr>
        </p:nvSpPr>
        <p:spPr>
          <a:xfrm>
            <a:off x="58734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05" name="Google Shape;205;p27"/>
          <p:cNvSpPr txBox="1"/>
          <p:nvPr>
            <p:ph idx="9" type="subTitle"/>
          </p:nvPr>
        </p:nvSpPr>
        <p:spPr>
          <a:xfrm>
            <a:off x="58734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6" name="Google Shape;206;p27"/>
          <p:cNvSpPr/>
          <p:nvPr>
            <p:ph idx="13" type="pic"/>
          </p:nvPr>
        </p:nvSpPr>
        <p:spPr>
          <a:xfrm>
            <a:off x="2760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27"/>
          <p:cNvSpPr/>
          <p:nvPr>
            <p:ph idx="14" type="pic"/>
          </p:nvPr>
        </p:nvSpPr>
        <p:spPr>
          <a:xfrm>
            <a:off x="30747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7"/>
          <p:cNvSpPr/>
          <p:nvPr>
            <p:ph idx="15" type="pic"/>
          </p:nvPr>
        </p:nvSpPr>
        <p:spPr>
          <a:xfrm>
            <a:off x="5873475" y="2073688"/>
            <a:ext cx="2463300" cy="1570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3">
  <p:cSld name="CUSTOM_1_1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1" name="Google Shape;211;p28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12" name="Google Shape;212;p28"/>
          <p:cNvSpPr txBox="1"/>
          <p:nvPr>
            <p:ph idx="1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13" name="Google Shape;213;p28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16" name="Google Shape;216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1" name="Google Shape;22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4" name="Google Shape;224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5" name="Google Shape;225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0" name="Google Shape;230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35" name="Google Shape;235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6" name="Google Shape;236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4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6" name="Google Shape;246;p4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7" name="Google Shape;247;p4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8" name="Google Shape;248;p4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9" name="Google Shape;249;p4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0" name="Google Shape;250;p4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3" name="Google Shape;253;p4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4" name="Google Shape;254;p4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57" name="Google Shape;257;p4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8" name="Google Shape;258;p4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9" name="Google Shape;259;p4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0" name="Google Shape;260;p4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3" name="Google Shape;263;p4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4" name="Google Shape;264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65" name="Google Shape;265;p43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6" name="Google Shape;266;p43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7" name="Google Shape;267;p43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8" name="Google Shape;268;p43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1" name="Google Shape;271;p4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2" name="Google Shape;272;p4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3" name="Google Shape;273;p4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4" name="Google Shape;274;p4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75" name="Google Shape;275;p4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" name="Google Shape;276;p4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7" name="Google Shape;277;p4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4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1" name="Google Shape;281;p4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4" name="Google Shape;284;p4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4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4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7" name="Google Shape;28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8" name="Google Shape;288;p4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9" name="Google Shape;289;p4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2" name="Google Shape;292;p4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4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4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5" name="Google Shape;295;p4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96" name="Google Shape;296;p4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8" name="Google Shape;298;p4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9" name="Google Shape;299;p4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0" name="Google Shape;300;p4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4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4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4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4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4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4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1" name="Google Shape;311;p4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4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4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3950" y="3166425"/>
            <a:ext cx="6424800" cy="15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78750" y="513900"/>
            <a:ext cx="5802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  <p15:guide id="21" pos="174">
          <p15:clr>
            <a:srgbClr val="E46962"/>
          </p15:clr>
        </p15:guide>
        <p15:guide id="22" pos="55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7.png"/><Relationship Id="rId7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0"/>
          <p:cNvSpPr txBox="1"/>
          <p:nvPr/>
        </p:nvSpPr>
        <p:spPr>
          <a:xfrm>
            <a:off x="283961" y="3730625"/>
            <a:ext cx="2045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University of Houston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9" name="Google Shape;319;p50"/>
          <p:cNvSpPr txBox="1"/>
          <p:nvPr/>
        </p:nvSpPr>
        <p:spPr>
          <a:xfrm>
            <a:off x="283961" y="4450025"/>
            <a:ext cx="2045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Prof. Guoning Chen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0" name="Google Shape;320;p50"/>
          <p:cNvSpPr txBox="1"/>
          <p:nvPr/>
        </p:nvSpPr>
        <p:spPr>
          <a:xfrm>
            <a:off x="283953" y="4090319"/>
            <a:ext cx="2045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COSC 6344 - Fall 2025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1" name="Google Shape;321;p50"/>
          <p:cNvCxnSpPr/>
          <p:nvPr/>
        </p:nvCxnSpPr>
        <p:spPr>
          <a:xfrm rot="10800000">
            <a:off x="283800" y="3964328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50"/>
          <p:cNvCxnSpPr/>
          <p:nvPr/>
        </p:nvCxnSpPr>
        <p:spPr>
          <a:xfrm rot="10800000">
            <a:off x="283800" y="4324039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50"/>
          <p:cNvCxnSpPr/>
          <p:nvPr/>
        </p:nvCxnSpPr>
        <p:spPr>
          <a:xfrm rot="10800000">
            <a:off x="283800" y="4683725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50"/>
          <p:cNvCxnSpPr/>
          <p:nvPr/>
        </p:nvCxnSpPr>
        <p:spPr>
          <a:xfrm rot="10800000">
            <a:off x="750" y="361488"/>
            <a:ext cx="9102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50"/>
          <p:cNvCxnSpPr/>
          <p:nvPr/>
        </p:nvCxnSpPr>
        <p:spPr>
          <a:xfrm rot="10800000">
            <a:off x="283800" y="3604625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n architectural detail of a modern building." id="326" name="Google Shape;326;p5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61984" r="8587" t="0"/>
          <a:stretch/>
        </p:blipFill>
        <p:spPr>
          <a:xfrm>
            <a:off x="7034650" y="0"/>
            <a:ext cx="21133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50"/>
          <p:cNvSpPr txBox="1"/>
          <p:nvPr>
            <p:ph idx="4294967295" type="title"/>
          </p:nvPr>
        </p:nvSpPr>
        <p:spPr>
          <a:xfrm>
            <a:off x="278750" y="513900"/>
            <a:ext cx="6672900" cy="205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000000"/>
                </a:solidFill>
              </a:rPr>
              <a:t>Interactive Population Visualization of Virginia Using VTK and</a:t>
            </a:r>
            <a:endParaRPr sz="3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000000"/>
                </a:solidFill>
              </a:rPr>
              <a:t>Vega-Lite in Trame</a:t>
            </a:r>
            <a:endParaRPr sz="3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</p:txBody>
      </p:sp>
      <p:sp>
        <p:nvSpPr>
          <p:cNvPr id="328" name="Google Shape;328;p50"/>
          <p:cNvSpPr txBox="1"/>
          <p:nvPr/>
        </p:nvSpPr>
        <p:spPr>
          <a:xfrm>
            <a:off x="322025" y="2626924"/>
            <a:ext cx="54969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Jayachandra Sarika, Anjani Kumar Avadhanam, Minh Nguyen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Google Shape;333;p51"/>
          <p:cNvCxnSpPr/>
          <p:nvPr/>
        </p:nvCxnSpPr>
        <p:spPr>
          <a:xfrm rot="10800000">
            <a:off x="270887" y="1700775"/>
            <a:ext cx="4009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51"/>
          <p:cNvCxnSpPr/>
          <p:nvPr/>
        </p:nvCxnSpPr>
        <p:spPr>
          <a:xfrm rot="10800000">
            <a:off x="270887" y="2638575"/>
            <a:ext cx="4009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51"/>
          <p:cNvCxnSpPr/>
          <p:nvPr/>
        </p:nvCxnSpPr>
        <p:spPr>
          <a:xfrm rot="10800000">
            <a:off x="270887" y="3576375"/>
            <a:ext cx="4009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51"/>
          <p:cNvCxnSpPr/>
          <p:nvPr/>
        </p:nvCxnSpPr>
        <p:spPr>
          <a:xfrm rot="10800000">
            <a:off x="4858665" y="1700775"/>
            <a:ext cx="4008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51"/>
          <p:cNvCxnSpPr/>
          <p:nvPr/>
        </p:nvCxnSpPr>
        <p:spPr>
          <a:xfrm rot="10800000">
            <a:off x="4858220" y="2638575"/>
            <a:ext cx="4009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" name="Google Shape;338;p51"/>
          <p:cNvSpPr txBox="1"/>
          <p:nvPr>
            <p:ph idx="7"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339" name="Google Shape;339;p51"/>
          <p:cNvSpPr txBox="1"/>
          <p:nvPr>
            <p:ph type="title"/>
          </p:nvPr>
        </p:nvSpPr>
        <p:spPr>
          <a:xfrm>
            <a:off x="270983" y="19850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340" name="Google Shape;340;p51"/>
          <p:cNvSpPr txBox="1"/>
          <p:nvPr>
            <p:ph idx="2" type="title"/>
          </p:nvPr>
        </p:nvSpPr>
        <p:spPr>
          <a:xfrm>
            <a:off x="270983" y="29228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341" name="Google Shape;341;p51"/>
          <p:cNvSpPr txBox="1"/>
          <p:nvPr>
            <p:ph idx="3" type="title"/>
          </p:nvPr>
        </p:nvSpPr>
        <p:spPr>
          <a:xfrm>
            <a:off x="270973" y="3860625"/>
            <a:ext cx="39633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Methodology / System Architecture</a:t>
            </a:r>
            <a:endParaRPr/>
          </a:p>
        </p:txBody>
      </p:sp>
      <p:sp>
        <p:nvSpPr>
          <p:cNvPr id="342" name="Google Shape;342;p51"/>
          <p:cNvSpPr txBox="1"/>
          <p:nvPr>
            <p:ph idx="4" type="title"/>
          </p:nvPr>
        </p:nvSpPr>
        <p:spPr>
          <a:xfrm>
            <a:off x="4858317" y="19850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343" name="Google Shape;343;p51"/>
          <p:cNvSpPr txBox="1"/>
          <p:nvPr>
            <p:ph idx="5" type="title"/>
          </p:nvPr>
        </p:nvSpPr>
        <p:spPr>
          <a:xfrm>
            <a:off x="4858317" y="29228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Q &amp; A</a:t>
            </a:r>
            <a:endParaRPr/>
          </a:p>
        </p:txBody>
      </p:sp>
      <p:sp>
        <p:nvSpPr>
          <p:cNvPr id="344" name="Google Shape;344;p51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45" name="Google Shape;345;p5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6" name="Google Shape;346;p51"/>
          <p:cNvSpPr txBox="1"/>
          <p:nvPr>
            <p:ph idx="8" type="subTitle"/>
          </p:nvPr>
        </p:nvSpPr>
        <p:spPr>
          <a:xfrm>
            <a:off x="271825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47" name="Google Shape;347;p51"/>
          <p:cNvSpPr txBox="1"/>
          <p:nvPr>
            <p:ph idx="9" type="subTitle"/>
          </p:nvPr>
        </p:nvSpPr>
        <p:spPr>
          <a:xfrm>
            <a:off x="4858700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48" name="Google Shape;348;p51"/>
          <p:cNvSpPr txBox="1"/>
          <p:nvPr>
            <p:ph idx="13" type="subTitle"/>
          </p:nvPr>
        </p:nvSpPr>
        <p:spPr>
          <a:xfrm>
            <a:off x="271825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49" name="Google Shape;349;p51"/>
          <p:cNvSpPr txBox="1"/>
          <p:nvPr>
            <p:ph idx="14" type="subTitle"/>
          </p:nvPr>
        </p:nvSpPr>
        <p:spPr>
          <a:xfrm>
            <a:off x="271825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50" name="Google Shape;350;p51"/>
          <p:cNvSpPr txBox="1"/>
          <p:nvPr>
            <p:ph idx="15" type="subTitle"/>
          </p:nvPr>
        </p:nvSpPr>
        <p:spPr>
          <a:xfrm>
            <a:off x="4858700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oxy modern building with bright walls under a sunny sky." id="355" name="Google Shape;355;p52"/>
          <p:cNvPicPr preferRelativeResize="0"/>
          <p:nvPr/>
        </p:nvPicPr>
        <p:blipFill rotWithShape="1">
          <a:blip r:embed="rId3">
            <a:alphaModFix amt="90000"/>
          </a:blip>
          <a:srcRect b="29022" l="0" r="0" t="0"/>
          <a:stretch/>
        </p:blipFill>
        <p:spPr>
          <a:xfrm>
            <a:off x="-4" y="0"/>
            <a:ext cx="9144003" cy="51434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6" name="Google Shape;356;p52"/>
          <p:cNvCxnSpPr/>
          <p:nvPr/>
        </p:nvCxnSpPr>
        <p:spPr>
          <a:xfrm rot="10800000">
            <a:off x="285600" y="1224819"/>
            <a:ext cx="857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7" name="Google Shape;357;p52"/>
          <p:cNvSpPr txBox="1"/>
          <p:nvPr>
            <p:ph type="title"/>
          </p:nvPr>
        </p:nvSpPr>
        <p:spPr>
          <a:xfrm>
            <a:off x="276075" y="457200"/>
            <a:ext cx="85944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358" name="Google Shape;358;p5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9" name="Google Shape;359;p52"/>
          <p:cNvSpPr txBox="1"/>
          <p:nvPr>
            <p:ph idx="2" type="body"/>
          </p:nvPr>
        </p:nvSpPr>
        <p:spPr>
          <a:xfrm>
            <a:off x="265975" y="1322725"/>
            <a:ext cx="5889000" cy="1503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 an interactive system to explore Virginia’s population data (2010 - 2019) through spatial and analytical visualizations.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Combined VTK for maps and Vega-Lite / Altair for charts, all connected using the Trame web framework.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Enabled real-time updates, where selecting a county instantly refreshes all linked visual views.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white facade of a modern building under a bright blue sky. " id="364" name="Google Shape;364;p5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34193" t="0"/>
          <a:stretch/>
        </p:blipFill>
        <p:spPr>
          <a:xfrm>
            <a:off x="0" y="0"/>
            <a:ext cx="4348800" cy="5143499"/>
          </a:xfrm>
          <a:prstGeom prst="rect">
            <a:avLst/>
          </a:prstGeom>
        </p:spPr>
      </p:pic>
      <p:sp>
        <p:nvSpPr>
          <p:cNvPr id="365" name="Google Shape;365;p53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6" name="Google Shape;366;p53"/>
          <p:cNvSpPr txBox="1"/>
          <p:nvPr>
            <p:ph type="title"/>
          </p:nvPr>
        </p:nvSpPr>
        <p:spPr>
          <a:xfrm>
            <a:off x="4618950" y="457200"/>
            <a:ext cx="42516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367" name="Google Shape;367;p53"/>
          <p:cNvSpPr txBox="1"/>
          <p:nvPr>
            <p:ph idx="3" type="subTitle"/>
          </p:nvPr>
        </p:nvSpPr>
        <p:spPr>
          <a:xfrm>
            <a:off x="4583100" y="1250700"/>
            <a:ext cx="4461000" cy="3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Virginia county-level population data from 2010–2019 (133 counties).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stored in CSV containing yearly population columns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(2010–2019).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VTK file constructed using Virginia public shapefiles (using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pyshp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library)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Geographic boundaries loaded from a VTK polygon mesh containing county shapes.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Preprocessing included name normalization + linking CSV rows to VTK polygon cells.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4"/>
          <p:cNvSpPr txBox="1"/>
          <p:nvPr>
            <p:ph type="title"/>
          </p:nvPr>
        </p:nvSpPr>
        <p:spPr>
          <a:xfrm>
            <a:off x="276075" y="457200"/>
            <a:ext cx="56472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</a:t>
            </a:r>
            <a:endParaRPr/>
          </a:p>
        </p:txBody>
      </p:sp>
      <p:sp>
        <p:nvSpPr>
          <p:cNvPr id="373" name="Google Shape;373;p5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4" name="Google Shape;374;p54"/>
          <p:cNvSpPr txBox="1"/>
          <p:nvPr/>
        </p:nvSpPr>
        <p:spPr>
          <a:xfrm>
            <a:off x="312600" y="1403700"/>
            <a:ext cx="4222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Combines VTK for geographic rendering, Vega-Lite for analytical charts, and Trame for linking everything in a single web interface.</a:t>
            </a:r>
            <a:br>
              <a:rPr lang="en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Uses a reactive state model, where any change (county selection, tab switch, slider) updates all views instantly.</a:t>
            </a:r>
            <a:br>
              <a:rPr lang="en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 backend layer handles data loading, preprocessing, clustering, and forecasting, while the frontend displays synchronized visual outputs.</a:t>
            </a:r>
            <a:br>
              <a:rPr lang="en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VTK map and Vega-Lite charts communicate through Trame event callbacks, ensuring real-time, coordinated multi-view updates</a:t>
            </a:r>
            <a:endParaRPr sz="1200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375" name="Google Shape;375;p54" title="system-architectur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7200" y="997500"/>
            <a:ext cx="3816857" cy="3871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5"/>
          <p:cNvSpPr txBox="1"/>
          <p:nvPr>
            <p:ph type="title"/>
          </p:nvPr>
        </p:nvSpPr>
        <p:spPr>
          <a:xfrm>
            <a:off x="276075" y="457200"/>
            <a:ext cx="50001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 / Tech stack</a:t>
            </a:r>
            <a:endParaRPr/>
          </a:p>
        </p:txBody>
      </p:sp>
      <p:sp>
        <p:nvSpPr>
          <p:cNvPr id="381" name="Google Shape;381;p55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2" name="Google Shape;382;p55"/>
          <p:cNvSpPr txBox="1"/>
          <p:nvPr/>
        </p:nvSpPr>
        <p:spPr>
          <a:xfrm>
            <a:off x="406313" y="1253100"/>
            <a:ext cx="78795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Loaded and integrated CSV (population) + VTK mesh (map) into a unified structure.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Built VTK pipeline for map coloring, highlighting, and interactive selection.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Created Vega-Lite charts: trend lines, yearly bars, growth gauge, similarity bars, correlation heatmap.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Implemented reactive state updates to synchronize map + charts in real time with Trame.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en" sz="1200"/>
              <a:t>ML clustering / forecasting with Pandas, Numpy, Scikit-learn.</a:t>
            </a:r>
            <a:endParaRPr sz="1200"/>
          </a:p>
        </p:txBody>
      </p:sp>
      <p:pic>
        <p:nvPicPr>
          <p:cNvPr id="383" name="Google Shape;38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300" y="3921700"/>
            <a:ext cx="735624" cy="735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2488" y="3968543"/>
            <a:ext cx="1334624" cy="715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2323" y="4080372"/>
            <a:ext cx="1847475" cy="4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1325" y="3990200"/>
            <a:ext cx="671900" cy="6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08900" y="3929163"/>
            <a:ext cx="1334625" cy="720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6"/>
          <p:cNvSpPr txBox="1"/>
          <p:nvPr>
            <p:ph type="title"/>
          </p:nvPr>
        </p:nvSpPr>
        <p:spPr>
          <a:xfrm>
            <a:off x="276075" y="457200"/>
            <a:ext cx="84936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Components (extra exploration) </a:t>
            </a:r>
            <a:endParaRPr/>
          </a:p>
        </p:txBody>
      </p:sp>
      <p:sp>
        <p:nvSpPr>
          <p:cNvPr id="393" name="Google Shape;393;p56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4" name="Google Shape;394;p56"/>
          <p:cNvSpPr txBox="1"/>
          <p:nvPr/>
        </p:nvSpPr>
        <p:spPr>
          <a:xfrm>
            <a:off x="402075" y="1064250"/>
            <a:ext cx="5198700" cy="1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Linear regression used for forecasting county populations up to 2030.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K-Means clustering on normalized 10-year population vectors to group similar counties.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Used PCA to visualize clusters in 2D for interpretability.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en" sz="1200"/>
              <a:t>All ML results dynamically update based on user selections.</a:t>
            </a:r>
            <a:endParaRPr sz="1200"/>
          </a:p>
        </p:txBody>
      </p:sp>
      <p:pic>
        <p:nvPicPr>
          <p:cNvPr id="395" name="Google Shape;39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8725" y="916075"/>
            <a:ext cx="3023725" cy="261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50" y="3054600"/>
            <a:ext cx="5844726" cy="1797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7"/>
          <p:cNvSpPr txBox="1"/>
          <p:nvPr>
            <p:ph type="title"/>
          </p:nvPr>
        </p:nvSpPr>
        <p:spPr>
          <a:xfrm>
            <a:off x="276075" y="457200"/>
            <a:ext cx="56472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Visualizations Implemented</a:t>
            </a:r>
            <a:endParaRPr/>
          </a:p>
        </p:txBody>
      </p:sp>
      <p:sp>
        <p:nvSpPr>
          <p:cNvPr id="402" name="Google Shape;402;p57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57"/>
          <p:cNvSpPr txBox="1"/>
          <p:nvPr/>
        </p:nvSpPr>
        <p:spPr>
          <a:xfrm>
            <a:off x="276075" y="1023350"/>
            <a:ext cx="78795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Population trend line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Mini bar chart (2010 vs 2019)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Similarity ranking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Growth gauge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Pie chart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Correlation heatmap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Forecast chart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SzPts val="1200"/>
              <a:buChar char="●"/>
            </a:pPr>
            <a:r>
              <a:rPr lang="en" sz="1200"/>
              <a:t>Clustering view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8"/>
          <p:cNvSpPr txBox="1"/>
          <p:nvPr>
            <p:ph type="title"/>
          </p:nvPr>
        </p:nvSpPr>
        <p:spPr>
          <a:xfrm>
            <a:off x="276075" y="457200"/>
            <a:ext cx="56472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8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0" name="Google Shape;41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8350" y="3054349"/>
            <a:ext cx="4930552" cy="19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525" y="970088"/>
            <a:ext cx="3459732" cy="1995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6132" y="803938"/>
            <a:ext cx="3109135" cy="1995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9"/>
          <p:cNvSpPr txBox="1"/>
          <p:nvPr>
            <p:ph type="title"/>
          </p:nvPr>
        </p:nvSpPr>
        <p:spPr>
          <a:xfrm>
            <a:off x="276075" y="457200"/>
            <a:ext cx="56472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5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9" name="Google Shape;41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5048" y="942200"/>
            <a:ext cx="2954900" cy="21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075" y="964325"/>
            <a:ext cx="3296326" cy="22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898" y="3298100"/>
            <a:ext cx="5801851" cy="179324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59"/>
          <p:cNvSpPr txBox="1"/>
          <p:nvPr/>
        </p:nvSpPr>
        <p:spPr>
          <a:xfrm>
            <a:off x="7045025" y="3626420"/>
            <a:ext cx="13197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and more …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0"/>
          <p:cNvSpPr txBox="1"/>
          <p:nvPr>
            <p:ph type="title"/>
          </p:nvPr>
        </p:nvSpPr>
        <p:spPr>
          <a:xfrm>
            <a:off x="1182150" y="1765350"/>
            <a:ext cx="6779700" cy="17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away!</a:t>
            </a:r>
            <a:endParaRPr/>
          </a:p>
        </p:txBody>
      </p:sp>
      <p:sp>
        <p:nvSpPr>
          <p:cNvPr id="428" name="Google Shape;428;p60"/>
          <p:cNvSpPr txBox="1"/>
          <p:nvPr>
            <p:ph idx="2" type="title"/>
          </p:nvPr>
        </p:nvSpPr>
        <p:spPr>
          <a:xfrm>
            <a:off x="1182150" y="4058050"/>
            <a:ext cx="67797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discuss any doubts or concerns.</a:t>
            </a:r>
            <a:endParaRPr/>
          </a:p>
        </p:txBody>
      </p:sp>
      <p:pic>
        <p:nvPicPr>
          <p:cNvPr descr="A modern glass building under a sunny blue sky. " id="429" name="Google Shape;429;p60"/>
          <p:cNvPicPr preferRelativeResize="0"/>
          <p:nvPr/>
        </p:nvPicPr>
        <p:blipFill rotWithShape="1">
          <a:blip r:embed="rId3">
            <a:alphaModFix/>
          </a:blip>
          <a:srcRect b="36562" l="0" r="0" t="46565"/>
          <a:stretch/>
        </p:blipFill>
        <p:spPr>
          <a:xfrm>
            <a:off x="9127" y="0"/>
            <a:ext cx="9143997" cy="102827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60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1" name="Google Shape;431;p60"/>
          <p:cNvCxnSpPr/>
          <p:nvPr/>
        </p:nvCxnSpPr>
        <p:spPr>
          <a:xfrm rot="10800000">
            <a:off x="283720" y="4607525"/>
            <a:ext cx="8577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ows of rectangular windows cover the face of a modern building." id="436" name="Google Shape;436;p61"/>
          <p:cNvPicPr preferRelativeResize="0"/>
          <p:nvPr/>
        </p:nvPicPr>
        <p:blipFill rotWithShape="1">
          <a:blip r:embed="rId3">
            <a:alphaModFix/>
          </a:blip>
          <a:srcRect b="39724" l="0" r="0" t="26217"/>
          <a:stretch/>
        </p:blipFill>
        <p:spPr>
          <a:xfrm>
            <a:off x="6877850" y="0"/>
            <a:ext cx="2266150" cy="115205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61"/>
          <p:cNvSpPr txBox="1"/>
          <p:nvPr>
            <p:ph type="title"/>
          </p:nvPr>
        </p:nvSpPr>
        <p:spPr>
          <a:xfrm>
            <a:off x="750050" y="457200"/>
            <a:ext cx="57132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438" name="Google Shape;438;p6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Kickoff Presentation">
  <a:themeElements>
    <a:clrScheme name="Simple Light">
      <a:dk1>
        <a:srgbClr val="FBFBFB"/>
      </a:dk1>
      <a:lt1>
        <a:srgbClr val="1C2026"/>
      </a:lt1>
      <a:dk2>
        <a:srgbClr val="F5F5F5"/>
      </a:dk2>
      <a:lt2>
        <a:srgbClr val="1C2026"/>
      </a:lt2>
      <a:accent1>
        <a:srgbClr val="E9E9E9"/>
      </a:accent1>
      <a:accent2>
        <a:srgbClr val="7A7A7A"/>
      </a:accent2>
      <a:accent3>
        <a:srgbClr val="C2C2C2"/>
      </a:accent3>
      <a:accent4>
        <a:srgbClr val="434343"/>
      </a:accent4>
      <a:accent5>
        <a:srgbClr val="666666"/>
      </a:accent5>
      <a:accent6>
        <a:srgbClr val="999999"/>
      </a:accent6>
      <a:hlink>
        <a:srgbClr val="B7B7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